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0631d8ce740be" /><Relationship Type="http://schemas.openxmlformats.org/officeDocument/2006/relationships/extended-properties" Target="/docProps/app.xml" Id="R0144330fb3e3401e" /><Relationship Type="http://schemas.openxmlformats.org/officeDocument/2006/relationships/officeDocument" Target="/ppt/presentation.xml" Id="Rd1e07b4832d3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07a702e4a4402"/>
  </p:sldMasterIdLst>
  <p:notesMasterIdLst>
    <p:notesMasterId xmlns:r="http://schemas.openxmlformats.org/officeDocument/2006/relationships" r:id="Re02efa8e81f24cee"/>
  </p:notesMasterIdLst>
  <p:sldIdLst>
    <p:sldId xmlns:r="http://schemas.openxmlformats.org/officeDocument/2006/relationships" id="256" r:id="R765ced6efaaa4a6b"/>
    <p:sldId xmlns:r="http://schemas.openxmlformats.org/officeDocument/2006/relationships" id="257" r:id="R40ea24870cb8481c"/>
    <p:sldId xmlns:r="http://schemas.openxmlformats.org/officeDocument/2006/relationships" id="258" r:id="Rf16faa66929842e0"/>
    <p:sldId xmlns:r="http://schemas.openxmlformats.org/officeDocument/2006/relationships" id="259" r:id="Rf741e6ae92d3420e"/>
    <p:sldId xmlns:r="http://schemas.openxmlformats.org/officeDocument/2006/relationships" id="260" r:id="R5bc1c0a2ab48491f"/>
    <p:sldId xmlns:r="http://schemas.openxmlformats.org/officeDocument/2006/relationships" id="261" r:id="R726e8d8f840a4382"/>
    <p:sldId xmlns:r="http://schemas.openxmlformats.org/officeDocument/2006/relationships" id="262" r:id="Re61936b47b644cb9"/>
    <p:sldId xmlns:r="http://schemas.openxmlformats.org/officeDocument/2006/relationships" id="263" r:id="R63d3f581c60a41bf"/>
    <p:sldId xmlns:r="http://schemas.openxmlformats.org/officeDocument/2006/relationships" id="264" r:id="Rd50d739a064447b5"/>
    <p:sldId xmlns:r="http://schemas.openxmlformats.org/officeDocument/2006/relationships" id="265" r:id="R82af8a3b5e0d4938"/>
    <p:sldId xmlns:r="http://schemas.openxmlformats.org/officeDocument/2006/relationships" id="266" r:id="Re1beeb7d923d4cff"/>
    <p:sldId xmlns:r="http://schemas.openxmlformats.org/officeDocument/2006/relationships" id="267" r:id="Rd368c6a52d5143a3"/>
    <p:sldId xmlns:r="http://schemas.openxmlformats.org/officeDocument/2006/relationships" id="268" r:id="R55634e5f38b54c8b"/>
    <p:sldId xmlns:r="http://schemas.openxmlformats.org/officeDocument/2006/relationships" id="269" r:id="R5800f8458ffe48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994051f17493b" /><Relationship Type="http://schemas.openxmlformats.org/officeDocument/2006/relationships/slideMaster" Target="/ppt/slideMasters/slideMaster1.xml" Id="R24507a702e4a4402" /><Relationship Type="http://schemas.openxmlformats.org/officeDocument/2006/relationships/notesMaster" Target="/ppt/notesMasters/notesMaster1.xml" Id="Re02efa8e81f24cee" /><Relationship Type="http://schemas.openxmlformats.org/officeDocument/2006/relationships/presProps" Target="/ppt/presProps.xml" Id="R8b23a2a33265442d" /><Relationship Type="http://schemas.openxmlformats.org/officeDocument/2006/relationships/tableStyles" Target="/ppt/tableStyles.xml" Id="Rec2a145daf994e49" /><Relationship Type="http://schemas.openxmlformats.org/officeDocument/2006/relationships/slide" Target="/ppt/slides/slide1.xml" Id="R765ced6efaaa4a6b" /><Relationship Type="http://schemas.openxmlformats.org/officeDocument/2006/relationships/slide" Target="/ppt/slides/slide2.xml" Id="R40ea24870cb8481c" /><Relationship Type="http://schemas.openxmlformats.org/officeDocument/2006/relationships/slide" Target="/ppt/slides/slide3.xml" Id="Rf16faa66929842e0" /><Relationship Type="http://schemas.openxmlformats.org/officeDocument/2006/relationships/slide" Target="/ppt/slides/slide4.xml" Id="Rf741e6ae92d3420e" /><Relationship Type="http://schemas.openxmlformats.org/officeDocument/2006/relationships/slide" Target="/ppt/slides/slide5.xml" Id="R5bc1c0a2ab48491f" /><Relationship Type="http://schemas.openxmlformats.org/officeDocument/2006/relationships/slide" Target="/ppt/slides/slide6.xml" Id="R726e8d8f840a4382" /><Relationship Type="http://schemas.openxmlformats.org/officeDocument/2006/relationships/slide" Target="/ppt/slides/slide7.xml" Id="Re61936b47b644cb9" /><Relationship Type="http://schemas.openxmlformats.org/officeDocument/2006/relationships/slide" Target="/ppt/slides/slide8.xml" Id="R63d3f581c60a41bf" /><Relationship Type="http://schemas.openxmlformats.org/officeDocument/2006/relationships/slide" Target="/ppt/slides/slide9.xml" Id="Rd50d739a064447b5" /><Relationship Type="http://schemas.openxmlformats.org/officeDocument/2006/relationships/slide" Target="/ppt/slides/slide10.xml" Id="R82af8a3b5e0d4938" /><Relationship Type="http://schemas.openxmlformats.org/officeDocument/2006/relationships/slide" Target="/ppt/slides/slide11.xml" Id="Re1beeb7d923d4cff" /><Relationship Type="http://schemas.openxmlformats.org/officeDocument/2006/relationships/slide" Target="/ppt/slides/slide12.xml" Id="Rd368c6a52d5143a3" /><Relationship Type="http://schemas.openxmlformats.org/officeDocument/2006/relationships/slide" Target="/ppt/slides/slide13.xml" Id="R55634e5f38b54c8b" /><Relationship Type="http://schemas.openxmlformats.org/officeDocument/2006/relationships/slide" Target="/ppt/slides/slide14.xml" Id="R5800f8458ffe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b7c56eb364b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dc7387ef004899" /><Relationship Type="http://schemas.openxmlformats.org/officeDocument/2006/relationships/notesMaster" Target="/ppt/notesMasters/notesMaster1.xml" Id="Rc58d64507361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2f430c76c4a7d" /><Relationship Type="http://schemas.openxmlformats.org/officeDocument/2006/relationships/notesMaster" Target="/ppt/notesMasters/notesMaster1.xml" Id="R279a5fb8a64f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9754a8d30448e" /><Relationship Type="http://schemas.openxmlformats.org/officeDocument/2006/relationships/notesMaster" Target="/ppt/notesMasters/notesMaster1.xml" Id="R6badb9df5694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a2fcd7447c47ef" /><Relationship Type="http://schemas.openxmlformats.org/officeDocument/2006/relationships/notesMaster" Target="/ppt/notesMasters/notesMaster1.xml" Id="R4a685896568649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83776c0a704c0d" /><Relationship Type="http://schemas.openxmlformats.org/officeDocument/2006/relationships/notesMaster" Target="/ppt/notesMasters/notesMaster1.xml" Id="Re88f103905bb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19cf2b6644bbe" /><Relationship Type="http://schemas.openxmlformats.org/officeDocument/2006/relationships/notesMaster" Target="/ppt/notesMasters/notesMaster1.xml" Id="R12db7e1c2d96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18ee777e6a49d9" /><Relationship Type="http://schemas.openxmlformats.org/officeDocument/2006/relationships/notesMaster" Target="/ppt/notesMasters/notesMaster1.xml" Id="R2e3d908078244d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4617628484928" /><Relationship Type="http://schemas.openxmlformats.org/officeDocument/2006/relationships/notesMaster" Target="/ppt/notesMasters/notesMaster1.xml" Id="R5357decf3e1a43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3de130e23c4dd4" /><Relationship Type="http://schemas.openxmlformats.org/officeDocument/2006/relationships/notesMaster" Target="/ppt/notesMasters/notesMaster1.xml" Id="Rc5585d182416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c8adfedcaa4ed3" /><Relationship Type="http://schemas.openxmlformats.org/officeDocument/2006/relationships/notesMaster" Target="/ppt/notesMasters/notesMaster1.xml" Id="Rd4d4bab46d5d40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563bec3a954c18" /><Relationship Type="http://schemas.openxmlformats.org/officeDocument/2006/relationships/notesMaster" Target="/ppt/notesMasters/notesMaster1.xml" Id="Ra2e9d62d984844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2037656768457c" /><Relationship Type="http://schemas.openxmlformats.org/officeDocument/2006/relationships/notesMaster" Target="/ppt/notesMasters/notesMaster1.xml" Id="R14e50afbb42f4a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87cf045a3a465d" /><Relationship Type="http://schemas.openxmlformats.org/officeDocument/2006/relationships/notesMaster" Target="/ppt/notesMasters/notesMaster1.xml" Id="Rc28f9c1bc1b745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e6074230e547a0" /><Relationship Type="http://schemas.openxmlformats.org/officeDocument/2006/relationships/notesMaster" Target="/ppt/notesMasters/notesMaster1.xml" Id="R0b015a688a944b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Standard backpropagation serializes work through forward, backward, and update dependencies. Our project compares four ways to reduce the resulting thread idle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four branches change what a worker does when the correct current gradient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Why is this an operating systems project? The design centers on queues, scheduling, ownership, barriers, shared memory, and measurable CPU utilization.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The methods originate mainly in distributed or accelerator settings. We will treat CPU cache behavior and memory bandwidth as first-class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Xu, Huo, and Huang, CVPR 2020. https://openaccess.thecvf.com/content_CVPR_2020/html/Xu_On_the_Acceleration_of_Deep_Learning_Model_Parallelism_With_Staleness_CVPR_2020_paper.html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Delayed gradients remain genuine backpropagated gradients. The runtime accepts that the model has moved since the gradient was computed.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lower timeline keeps every worker active by mixing forward work, older backward work, and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How is this different from synthetic gradients? Synthetic gradients estimate a missing signal. Delayed gradients reuse a real signal from an older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The schedule and delay pattern shown here are conceptual. A CPU implementation must define module boundaries and version semantics precisely.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Huo et al., ICML 2018. https://proceedings.mlr.press/v80/huo18a.html | Huo et al., NeurIPS 2018. https://proceedings.neurips.cc/paper/2018/hash/a36b598abb934e4528412e5a2127b931-Abstract.html | Xu et al., CVPR 2020. https://openaccess.thecvf.com/content_CVPR_2020/html/Xu_On_the_Acceleration_of_Deep_Learning_Model_Parallelism_With_Staleness_CVPR_2020_paper.html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Each worker owns its parameters and optimizer state. That ownership removes shared-weight write races between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Activations flow forward and gradients flow backward through bounded, versioned queues.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Why not let all threads update shared weights? Dense MLP updates touch most parameters, so lock-free shared writes are more contentious than sparse Hogwild-style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SPSC rings fit one producer and one consumer. More flexible replay or fan-out needs a different queue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Zhuang et al., arXiv preprint 2019. https://arxiv.org/abs/1906.09108 | Peng et al., PLOS ONE 2023. https://journals.plos.org/plosone/article?id=10.1371/journal.pone.0276427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Staleness is both a systems control knob and an optimization risk. We can test a bounded range and record its age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Reduced waiting may improve throughput, while larger gradient age can increase optimization risk. The drawing is a qualitative hypothesis, not a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What is the novelty? A runtime that changes the permitted age using live queue, imbalance, convergence, and memory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Training quality cannot be judged by final accuracy alone. Time to a target accuracy is the fair system-level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Ho et al., NeurIPS 2013. https://proceedings.neurips.cc/paper/2013/hash/b7bb35b9c6ca2aee2df08cf09d7016c2-Abstract.html | Peng et al., PLOS ONE 2023. https://journals.plos.org/plosone/article?id=10.1371/journal.pone.0276427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 pipeline adds inter-batch concurrency. While one micro-batch waits for a later stage, the worker advances another micro-batch.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lower schedule raises utilization without claiming that forward or backward dependencies vanished.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Why use micro-batches on one CPU? They create schedulable work units and expose stage imbalance even without multiple accelerators.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Tiny micro-batches may reduce matrix-multiplication efficiency and increase queue overhead on CPUs.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Huang et al., NeurIPS 2019. https://proceedings.neurips.cc/paper/2019/hash/093f65e080a295f8076b1c5722a46aa2-Abstract.html | Narayanan et al., SOSP 2019. https://www.microsoft.com/en-us/research/wp-content/uploads/2019/08/pipedream.pdf | Narayanan et al., ICML 2021. https://proceedings.mlr.press/v139/narayanan21a.html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Neural-network training is a bidirectional pipeline. 1F1B alternates forward and backward work after warmup.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Zero Bubble separates the urgent input-gradient task from the weight-gradient task that can be scheduled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Why does the B task have priority? The previous stage cannot begin its backward work until it receives the input gradient.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Reordering parameter-gradient work changes memory lifetimes and may need extra activation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PipeDream, SOSP 2019. https://www.microsoft.com/en-us/research/wp-content/uploads/2019/08/pipedream.pdf | Qi et al., ICLR 2024. https://openreview.net/pdf?id=tuzTN0eIO5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 CPU runtime has a scheduler above stage workers, with bounded queues and explicit buffer ownership between stages.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Layer dimensions produce unequal dense-matrix costs, so the partitioner should profile rather than divide layers evenly.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What would we optimize? Bubble fraction, samples per second, queue depth, memory, and time to target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Accelerator studies assume different kernels and interconnects. CPU micro-batch size must preserve BLAS efficiency and cache locality.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Ajanthan et al., ICML 2025. https://proceedings.mlr.press/v267/ajanthan25a.html | Ilin and Richtárik, arXiv preprint 2026. https://arxiv.org/abs/2606.03498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 synthetic-gradient model predicts the gradient that later modules would have produced. The module can update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local predictor sits beside the module interface and learns from true gradients when they eventually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Does this preserve the global objective? It tries to approximate the global learning signal, but prediction error can bias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The predictor adds computation, memory, and its own optimization problem. Those costs matter on a CPU.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Jaderberg et al., ICML 2017. https://proceedings.mlr.press/v70/jaderberg17a.html | Czarnecki et al., ICML 2017. https://proceedings.mlr.press/v70/czarnecki17a.html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Local learning avoids predicting the exact global gradient. Each module receives a classifier and its own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Every module can train from a local objective without waiting for the final loss to backpropagate.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Are synthetic gradients and local losses the same? No. One estimates the missing global gradient, while the other changes the training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Better local accuracy does not guarantee better end-to-end accuracy. Gradient alignment is a central evaluation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Belilovsky et al., ICML 2020. https://proceedings.mlr.press/v119/belilovsky20a.html | Yang et al., ICML 2024. https://proceedings.mlr.press/v235/yang24m.html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Replay buffers decouple producer and consumer rates. The queue policy decides whether we preserve data, freshness, or throughput.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proposed hybrid runtime uses a true gradient when it is available and switches only when waiting becomes costly.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Which buffer policy is best? That becomes an experiment across occupancy, age, throughput, and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Replay changes the data distribution seen by downstream modules and can add representation staleness.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Belilovsky et al., ICML 2020. https://proceedings.mlr.press/v119/belilovsky20a.html | Extended synchronous and asynchronous version. https://arxiv.org/abs/2106.06401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Local SGD changes the unit of parallelism. Threads no longer split one model. Each thread trains a full private replica.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workers run independently for H updates, then meet at one averaging barrier.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Why might this fit a CPU better? It offers strong isolation and few locks, but it duplicates memory and can saturate memory bandwidth.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Replicas must begin from the same weights, and optimizer-state handling must be defined separately from weight averaging.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Stich, ICLR 2019. https://openreview.net/forum?id=S1g2JnRcFX | Lin et al., ICLR 2020. https://openreview.net/pdf?id=B1eyO1BFPr | SlowMo, ICLR 2020. https://iclr.cc/virtual_2020/poster_SkxJ8REYPH.html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Local training removes shared-weight races and most locks. The main synchronization event is the periodic barrier and reduction.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Parallel averaging partitions the parameter vector so threads do not write the same output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Can averaging become the bottleneck? Yes. Dense parameter copies and reductions can become memory-bandwidth bound.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NUMA first-touch and thread pinning may matter as much as the mathematical averaging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H controls how often the replicas synchronize. The best value depends on both model divergence and systems overhead.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proposed controller increases H while replicas agree and reduces H when drift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What is the main research variable? H, paired with divergence, barrier cost, averaging time, and time to target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A divergence threshold is workload dependent. The adaptive rule must avoid oscillating H too frequently.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Luo et al., AISTATS 2025. https://proceedings.mlr.press/v258/luo25c.html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 decision is not simply which threading method is fastest. Each architecture pays a different price for less waiting.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point: The comparison identifies the work substitute, synchronization mechanism, implementation burden, and research variable for each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question: Which one do we recommend today? We have not selected one. We are asking which tradeoff offers the best mix of originality, implementability, and measurable OS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Technical caveat: All four need a shared baseline, identical MLP and data pipeline, controlled thread counts, and time-to-target-accuracy reporting.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note: Estimated complexity is a qualitative project-planning judgment, not a benchmark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209aaa14544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36b2025e9f424f" /><Relationship Type="http://schemas.openxmlformats.org/officeDocument/2006/relationships/slideLayout" Target="/ppt/slideLayouts/slideLayout1.xml" Id="Rb17b8e08349c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b8e08349c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543e5ab1a4b81" /><Relationship Type="http://schemas.openxmlformats.org/officeDocument/2006/relationships/notesSlide" Target="/ppt/notesSlides/notesSlide1.xml" Id="R762d60fa3419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0f98f91ed4442" /><Relationship Type="http://schemas.openxmlformats.org/officeDocument/2006/relationships/notesSlide" Target="/ppt/notesSlides/notesSlide2.xml" Id="R4d14fd9015a4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37990a64c4968" /><Relationship Type="http://schemas.openxmlformats.org/officeDocument/2006/relationships/notesSlide" Target="/ppt/notesSlides/notesSlide3.xml" Id="Ra29cc04aa19d4d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8e7a7b0664c25" /><Relationship Type="http://schemas.openxmlformats.org/officeDocument/2006/relationships/notesSlide" Target="/ppt/notesSlides/notesSlide4.xml" Id="R3e6c973e5be14f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db3bea3b0445c" /><Relationship Type="http://schemas.openxmlformats.org/officeDocument/2006/relationships/notesSlide" Target="/ppt/notesSlides/notesSlide5.xml" Id="R9ae8d9c81f4146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0bf7a193e4ed1" /><Relationship Type="http://schemas.openxmlformats.org/officeDocument/2006/relationships/notesSlide" Target="/ppt/notesSlides/notesSlide6.xml" Id="Rc334c296b0fd4c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236bcbbaa4ab1" /><Relationship Type="http://schemas.openxmlformats.org/officeDocument/2006/relationships/notesSlide" Target="/ppt/notesSlides/notesSlide7.xml" Id="R207190bd47034f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611c300fb479e" /><Relationship Type="http://schemas.openxmlformats.org/officeDocument/2006/relationships/notesSlide" Target="/ppt/notesSlides/notesSlide8.xml" Id="Rf530b6ca4822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d80475d04065" /><Relationship Type="http://schemas.openxmlformats.org/officeDocument/2006/relationships/notesSlide" Target="/ppt/notesSlides/notesSlide9.xml" Id="R96d002b575864b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bb4b7f63244dd" /><Relationship Type="http://schemas.openxmlformats.org/officeDocument/2006/relationships/notesSlide" Target="/ppt/notesSlides/notesSlide10.xml" Id="R2f24a9c114dd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a3cefaa774474" /><Relationship Type="http://schemas.openxmlformats.org/officeDocument/2006/relationships/notesSlide" Target="/ppt/notesSlides/notesSlide11.xml" Id="R0af5da6768a043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bf4e249e140fc" /><Relationship Type="http://schemas.openxmlformats.org/officeDocument/2006/relationships/notesSlide" Target="/ppt/notesSlides/notesSlide12.xml" Id="R298939c6b21042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0bd3a8a0e45e8" /><Relationship Type="http://schemas.openxmlformats.org/officeDocument/2006/relationships/notesSlide" Target="/ppt/notesSlides/notesSlide13.xml" Id="R755e33e9d41d47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8c4117414fd3" /><Relationship Type="http://schemas.openxmlformats.org/officeDocument/2006/relationships/notesSlide" Target="/ppt/notesSlides/notesSlide14.xml" Id="R4bebd18f6b7d44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4895850" y="19812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0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6248400" y="19812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2" idx="2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7600950" y="19812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39100" y="1724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C211C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686550" y="1724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C211C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1724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C211C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C5CA2-F14A-42C8-B2F5-0BACE0C1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OPERATING SYSTEMS COURSE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A547F-6416-4374-806D-FB539C5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Parallel MLP training: four multithreaded architectures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1C9E-74E4-4964-9310-5964FB85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59F01-9FDE-4F78-8018-66ED2F9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01/14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0CA68-E7C5-475F-8D61-3C464703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The design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CEFFC-E40F-496A-832C-7D54D49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How much synchronization can CPU threads remove while still preserving useful training?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05B5E-E2D9-43D1-B7DD-71BE258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668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884C6-6C22-49FF-BD1A-0F9B830A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A0B8C-4B7B-4A1E-B2A1-8EE2DFD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10A9A-8BFF-4BC3-9701-838619F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E8FAA-1F0C-4871-98D4-B6F388B4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238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FORWARD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16B26-83C6-4FB3-8C89-33C5200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57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BACKWARD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C73CC-74EE-4FE0-AA85-9753418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Forward locking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waits for upstream activations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A92D7-1CA9-4543-8A1B-3387B4D3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479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Backward locking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waits for downstream gradients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7C6E9-AB84-43FD-BB86-DD068C48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479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Update locking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waits for its parameter gradient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ED7EC-2B9B-4F9B-9012-D356781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8CD23-52DE-4C5E-B9AF-7BDB46A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A3543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A354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2EE20-C2A4-41D8-8DE6-3D5625D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09123-EDC5-4506-A6C6-0F0FA6A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Delayed gradients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78CF9-5F62-47E3-BE9A-BDF73728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434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Use an older real gradient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6AA99-8CDC-4BD2-8854-068E5B9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4F7180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4F718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4395F-878E-4A93-9EAA-8E90B11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00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718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522F04-0D77-42CC-825C-588951B7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Pipeline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44C32-EF4D-472F-AE60-3663F68C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434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Run another micro-batch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57894-4E1E-4FAA-9879-7F9B63CD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C7D4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6C7D4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C5FC89-112B-4345-B2C3-359ACC6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C7D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7BB93-E32B-41BB-8CFC-711BCAAD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Synthetic or local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D46A6-EC65-4C23-9D6F-6565D870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434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Generate a local learning 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247F5-CE55-4965-BDE7-4288372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38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B07828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B0782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32A95-7F03-4A8B-A829-C83ED9BD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78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6069FA-99AC-46C3-8F14-EB7B361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Local SGD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2834F-7ACC-4352-8A53-6EB07ACE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434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Train a private replica for longer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EEBB37-F682-42C0-BA39-B9F72AD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201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Architecture first. Algorithm second. Implementation third.</a:t>
            </a:r>
          </a:p>
        </p:txBody>
      </p:sp>
    </p:spTree>
    <p:extLst>
      <p:ext uri="{BB962C8B-B14F-4D97-AF65-F5344CB8AC3E}">
        <p14:creationId xmlns:p14="http://schemas.microsoft.com/office/powerpoint/2010/main" val="458099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EBB27B-0892-4AE1-97F4-5E1AAC0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APPROACH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2149E-FC42-4547-95A5-4D2C6C2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Delayed gradients: reduce backward waiting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B7F30-17EA-4149-B797-49B70BC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A9AC5-E5F8-4521-BBA2-43C5E6D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02/14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25CEF-6BB5-44C2-9B52-6F525A03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Current gradient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EF5BB-B04B-40D8-9B37-81CC8981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Wₜ₊₁ = Wₜ - η g(Wₜ)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9D06-825B-4273-8BD4-3FC0DCB5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Delayed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7E7D4-2317-4852-B229-92C3284A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A3543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A3543A"/>
                </a:solidFill>
                <a:latin typeface="Cambria Math"/>
                <a:ea typeface="Cambria Math"/>
                <a:cs typeface="Cambria Math"/>
              </a:rPr>
              <a:t>Wₜ₊₁ = Wₜ - η g(Wₜ₋τ)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99C7D-0D60-464C-AE6C-8705D3CD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τ measures gradient or model 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301BF-DB88-451E-9F39-DB72AE1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52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LOCKSTEP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2DA4D-870F-4FFF-8BFD-5032050D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B290C-270D-4A20-9CE7-0511BF82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0391C-8F6A-4599-B1BA-2060324B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11959-D048-4267-B375-A3965AE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D079E-DD6C-48B2-925E-04B37309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CB23B-D3A4-4578-AB84-F3E4BB18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DD0CC-65C8-4A18-AB8A-6BEA181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3253E-942E-4982-B0D1-A2AC77A6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19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7AC66-9D7B-4FB1-88AA-A973D92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EBC61-53EA-42BF-956F-8BF62B9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B9849-E5B6-4B20-AEF3-C051B28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11FB0-FF71-4042-AEFB-D838DBF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322EA-5FCD-4198-BCB8-E58CC41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50E34-D28A-4D94-B828-216194B1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B5C02-A343-4395-BBB5-8FE3BDA3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A6EBE-2650-4887-9C79-812FDF60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B5323-F240-4A63-8384-78340A4A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A7959-CE9E-4DA9-9943-9533C09C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CAB2E0-EA13-4261-82CC-D48098F0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986CF-A6F0-4962-AFA3-012A1B1D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1F039E-66E8-4F1A-B539-D5D1C439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D5DBC7-BF0C-48A9-A00F-5E506C13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FF4C6F-DF42-40AA-B704-614CABCA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7A5D6B-E82C-40D4-88BD-54F53D2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44E442-A080-4F6A-B4BA-3C64BB0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DELAYED 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33F48-8C33-46DC-BB80-7CE4FDF8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83C000-FDA1-414E-9ED0-15F6EC1A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950AD4-618D-412B-B8D4-D4631994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24BDB-6550-4ADC-B96C-D328A34A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04BB2E-76AA-4A2C-885C-2D97B8B8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C6082F-546B-43A5-814A-E3F1B571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87A728-1107-4F0D-8795-7680515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0FED7-5937-4EE2-A066-F67B41BF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76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C46CE6-258E-4358-9010-74DA51BD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8EDA33-8ED7-4191-9947-A5115B0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88C679-2FF1-4E23-ABA1-F53F628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B4B973-ED35-400D-8543-8284EEA0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CE15BE-CF27-4B5D-88AD-11A2AAF0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24A265-B9AE-4534-8601-15D94958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9BBBBA-F878-43D5-B369-157EEF9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9C02E4-A08C-4EF1-B4FF-DB16F1E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57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5947F5-4E94-4992-8357-36A5220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Thread 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ECB763-91F8-4DA8-ACDB-8B68CE5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CF9930-74AB-480E-9C0B-F30C10E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C2CAA5-4DEC-435B-9F45-9429723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43C82F-B099-451E-B873-46560EA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97D5BF-8612-4002-B1DE-D482C5F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880D95-5871-41CC-915B-192E740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UPD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2569AC-14DC-406E-A432-F56D281B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3860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D67AAA-04FD-435A-858F-49D34CC3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Delayed gradient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REAL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OLD model state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81DD85-C6FE-4C42-9770-284C1FA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578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7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Workers process different training timestamps instead of sharing one global step.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B31A53-0F44-42C5-8725-FBA96D5D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697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Useful work replaces backward waiting, but each update carries a measurable age.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5AF7AC-AB1B-4270-9BC0-BB298FAB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Huo et al., ICML 2018. Huo et al., NeurIPS 2018. Xu et al., CVPR 2020.</a:t>
            </a:r>
          </a:p>
        </p:txBody>
      </p:sp>
    </p:spTree>
    <p:extLst>
      <p:ext uri="{BB962C8B-B14F-4D97-AF65-F5344CB8AC3E}">
        <p14:creationId xmlns:p14="http://schemas.microsoft.com/office/powerpoint/2010/main" val="675662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/>
          <p:cNvCxnSpPr>
            <a:stCxn xmlns:a="http://schemas.openxmlformats.org/drawingml/2006/main" id="15" idx="1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1857375" y="2571750"/>
            <a:ext cx="15144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4991100" y="2571750"/>
            <a:ext cx="15144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4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505575" y="2571750"/>
            <a:ext cx="151447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9639300" y="2571750"/>
            <a:ext cx="11049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639300" y="2133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96200" y="2133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91100" y="2133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133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43A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3266A1-77AE-4FFA-9A39-1C391523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APPROACH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7513-0D33-4A5D-8A17-7C20D358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Thread architecture: versioned asynchronous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CFF87-1B34-4C59-B840-1E2EF938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B2032-C48C-480E-A053-5CC6A4DB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03/14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54EB5-65B0-4760-9A00-BB9C6FF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Layers 1 to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weights v105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1F860-36E6-4658-A029-DA10A09A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1927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Activation queue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batch id, 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CB007-8130-45F2-8AB8-C22BD2A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Layers 3 to 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weights v102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B8E56-BACD-46C7-99B9-EF38C4C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1927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Activation queue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batch id,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99AF1-7B73-4B78-AB79-F4FC7006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Layers 5 to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ED351-7B36-4CA0-906B-65769EB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Gradient queue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origin v101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3FB96-6886-43FD-92B0-9B00ACD2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Gradient queue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origin v101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38BBA-EC7C-4812-A4ED-BB5F2944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FORWARD ACTIVATIONS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3BC2B-C733-4B2D-95C4-F06767B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BACKWARD GRADIENTS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9CD26-5BB7-41AA-87FD-BC7D7E23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3429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54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Owner-thread rule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Only the owner worker modifies its module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Queues transfer data, not write authority.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4CF72-3DA0-4942-BACD-305DF8D2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00525"/>
            <a:ext cx="28384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Staleness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current version 105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gradient origin 101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τ = 105 - 101 =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7BF8E-B64B-486E-89F2-3929FA3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005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Staleness 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AF249-3FB2-4416-BF3D-9D30ED3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634EF-0723-4E99-834E-07B9175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291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SHRINK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2B8BA-F4D6-440D-9919-373F9B6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DISCARD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1A4BB-A8FE-4DC0-92D5-DB7B72A0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RECOMPUTE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B8019-649B-4918-94F7-86E790D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292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COMPENSATE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7837AF-6236-4247-8E9D-782AB070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76875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44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OS mechanisms: bounded queues, condition variables or SPSC rings, atomics, backpressure, cache-line separation.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31E0E-D401-4750-AFDE-EBFA4F5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Owner-thread architecture proposed for this project. Research lineage: Huo 2018. Zhuang 2019. Peng 2023.</a:t>
            </a:r>
          </a:p>
        </p:txBody>
      </p:sp>
    </p:spTree>
    <p:extLst>
      <p:ext uri="{BB962C8B-B14F-4D97-AF65-F5344CB8AC3E}">
        <p14:creationId xmlns:p14="http://schemas.microsoft.com/office/powerpoint/2010/main" val="461301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EAE842-4AB2-415E-8617-2CB2B74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APPROACH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DC2D9-DCE2-4A63-A3F6-6B479006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Delayed gradients: parallelism versus correctness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4ED4B-372D-4F27-B309-4B01BAD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759E2-DD5E-4556-B54F-D3D26F7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04/14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6F9AE-533F-43BD-9DB7-92539A6F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857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6C7AB-1B3D-4DDC-977C-28023FEA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Schematic hypothesis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BC722-2B02-4E16-AA86-C9F2523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573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No measured values. Directional hypotheses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434F4-8313-450A-A8EC-2C77DEEB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C21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C67F6-E7D0-405E-9BEE-92570539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C21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5D845-E77C-4801-8BFE-D8F41CD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higher tendency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86A06-1D05-4F6D-A941-5DBBC22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19286-DD33-4AC0-8B73-183F448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E222-328B-4C71-88D0-560A606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9EA55-FF8E-4802-A8B1-3BA121B8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8A8E2-56B9-4021-B3BA-ACCFD0B1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85651-DB4B-46C5-9D1C-582BC11E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CB2FD-2EC0-47AA-8B6E-7E9F4C5D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7C17C-E532-4963-B673-CC1B89E4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5AC39-C8EF-4292-956C-2F84AC2D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F318D-9BE2-451C-93B1-BBA5ACE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8E3DE-6A51-4FD2-B613-4A92269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62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21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A5D52-6E66-462E-9645-CD3EE59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862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F90DA-3861-442F-A9FB-514960B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86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90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Allowed staleness τₘₐₓ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79180-5FC4-4C46-9748-ED60CB2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DCF9E-283F-4973-87B5-38C97812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24202-6D86-4972-ABD0-DD75882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09DE8-E860-4067-B4D1-B4FA057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575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B9880-68F7-4DF5-9C93-D423668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575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C60F2-0354-4B50-A34E-3478930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703B4-9290-45AC-9F61-B87B938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BA4F3-5CE4-4CDD-A54C-5670E0F3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43935-C0E9-4CC0-8E92-0280226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22149-5E42-4156-BD40-DA82BCB8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40469D-BC00-4B06-8F7F-D1E8F8E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9F97C-08B2-4F4A-955C-8A30669E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5BAC8E-217B-48DD-AFC6-2E30ED5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99845A-0309-41C3-B371-46AAB1F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6CBCF7-B105-47AA-B15F-8ABF95E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1FF18-00D0-400E-8869-68519CB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169CB8-CC76-491C-99C5-0B47CFE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A0BB63-B0F4-45B2-8E4E-AC574C12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051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64748C-93A9-4796-8516-BDA8D820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9B264E-99BE-43D4-B187-0BEA3AC5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4CC187-5F5F-477F-B5E3-1963FCCB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DA87C3-0FF1-4440-BF22-946C663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573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defRPr>
            </a:pPr>
            <a:r>
              <a:rPr sz="825" b="1" i="0">
                <a:solidFill>
                  <a:srgbClr val="A3543A"/>
                </a:solidFill>
                <a:latin typeface="Bahnschrift"/>
                <a:ea typeface="Bahnschrift"/>
                <a:cs typeface="Bahnschrift"/>
              </a:rPr>
              <a:t>expected throughput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1658F0-C295-4B31-84A7-8C95610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211C"/>
            </a:solidFill>
            <a:prstDash val="dash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53B34B-1FA5-43BE-9509-6986747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574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82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optimization risk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BCDAB6-F2C3-41D8-B48E-00A6362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47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Bounded staleness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154230-2BC7-4122-8F79-3C3A666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A3543A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A3543A"/>
                </a:solidFill>
                <a:latin typeface="Cambria Math"/>
                <a:ea typeface="Cambria Math"/>
                <a:cs typeface="Cambria Math"/>
              </a:rPr>
              <a:t>Accept the update only when τ ≤ τₘₐₓ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29AB6C-C68D-4D64-8579-089B3D0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5742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D95AFB-FA42-4D29-B96F-B3A2B75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384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Store old activations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705CAD-3CA4-492C-88DB-745DD770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527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Less compute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More memory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A5AB95-D9C1-442F-8B2E-2EDBE88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Recompute activations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BB3BB0-5721-4AF2-9960-67919ED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5272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Less memory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More CPU work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52995D-732D-4628-84A4-5B48DA99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575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073E42-3651-4467-84A0-352E9F23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Proposed adaptive staleness controller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CF3950-C989-44BE-BE43-D760A7A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90975"/>
            <a:ext cx="442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Inputs: queue depth, worker imbalance, convergence signal, memory pressure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53F077-98E3-4B88-A91E-4B1CDD3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1010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Research question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At what gradient age does saved waiting time stop compensating for added optimization error?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4AF682-A8B2-4601-BA1E-39D86FB2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Experiment τₘₐₓ = 0, 1, 2, 4, 8, 16. Measure throughput, time to accuracy, gradient age, idle time, queue depth, and memory.</a:t>
            </a:r>
          </a:p>
        </p:txBody>
      </p:sp>
    </p:spTree>
    <p:extLst>
      <p:ext uri="{BB962C8B-B14F-4D97-AF65-F5344CB8AC3E}">
        <p14:creationId xmlns:p14="http://schemas.microsoft.com/office/powerpoint/2010/main" val="1594515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A3E9B8-C891-4B66-AE48-E45E2396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APPROACH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86E86-7A2B-4A9D-A78F-3D57637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Pipeline parallelism: overlap work across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EDD78-7A7E-42A0-9CBF-92D3B77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240D0-9120-485C-9C09-0454D556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05/14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671DB-91F0-4DE5-A465-5096DCC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NAIVE MODEL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2BCAE-6B6E-49AE-B021-D0C1BF5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F193-097F-4CB6-B895-48E4780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B2028-A25C-4613-89D0-8555CDCB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E6C19-DEBF-456F-8ED1-5BC68006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003F7-DD83-486C-9956-809DDC8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60BD9-50EB-4E15-BC2D-4B5A8BF6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06405-EA92-4A92-AEA3-A4CAC33D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A888B-E318-4DA4-AC40-4E37FEDC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47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EDB6D-2697-4611-8E5E-2A9F8239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6007E-B7F9-4674-B4ED-6156763C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CD095-F9C6-4A4A-948A-CEFC983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24DD1-9DBB-499D-B347-71463D4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AC59F-2839-4043-BA5A-92320604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0650D-A3A8-4942-A0E7-0548B5A0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9A80E-69DF-4C98-815F-BB62722A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30213-4126-4C70-BE36-1291D09B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28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1DA64-58A8-42F1-9BDA-0E1F569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3238D-314D-48F6-AB77-5423152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0682B-A4C6-4B5C-82B4-ECC12E8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6E98A-8108-46DF-A5B8-A49E102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DB37A-C476-4B48-9A4C-5BBEE54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78B8A-9A2D-48F0-9555-7D2B6729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24CAF-B6D2-49F4-81A3-8A4EF47B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C6654B-26CA-4CFD-8EC6-910DC9E8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9825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WAIT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A3F37-3A88-43A0-A637-0E20EEDE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240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Layer partitioning alone leaves most stages idle.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5BFF1-C3E9-49F4-A0FF-1F5A5CF5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CC077-B0AF-45B0-B1C1-CFD004C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FORWARD-PHASE MICRO-BATCH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F9DBA-A756-41C3-B1B0-CF01B19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340159-3C04-4774-B96C-44A39D8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2A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F(A)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FDCAE-9AEF-42B8-A13C-FFD709B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94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F(B)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7731F6-5428-4524-B588-0FD567C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F(C)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2A2852-9632-47EB-B6B9-44965A7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2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F(D)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8E4B9A-BE83-4E0C-BC8F-EF0DA12D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EFF9AF-0B7D-474F-9529-FE3E997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92B18-F657-4EEC-A0F3-FFAE40C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988932-A82D-42B0-9C61-8EB6619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FA952B-2041-4912-A3F6-917577E3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571D6A-6911-4C65-BBAD-8452B1B5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2A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F(A)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229D3-70AC-4749-A87B-BDFDDD2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94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F(B)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52A19C-3105-4291-B476-86255B98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F(C)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CEC5FA-B8A6-4B83-9C60-727C672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2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F(D)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7CE4B1-66E9-49AE-B811-5113637E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D23F48-BEB9-47D2-826E-97756AF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789DBB-ABA6-4E3D-9A52-85864BC1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33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3F2B2B-6593-4455-982D-8A26FC17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0D5C3C-FB21-4802-8AFD-310B3E5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396F4B-A092-4FB1-9D04-93EA890A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92A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F(A)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45C596-C986-4926-A629-9D3E6287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94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F(B)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5A64E9-81C1-4B8E-A0D6-295D315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F(C)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829689-CA18-4A2D-A23F-94F9454F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2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F(D)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B76C6F-1A41-4E57-A518-D18BD3C4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A3019C-DEC6-4D5E-B6EF-2DCACFE9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5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Several micro-batches occupy the network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Dependencies remain, but some otherwise idle slots can run ready work.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3DD508-AFB1-49EE-9D19-CDF7238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Pipeline parallelism can hide dependency waiting. It does not remove the dependency.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76378E-A38F-491A-A374-1B74DB46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Huang et al., NeurIPS 2019. Narayanan et al., SOSP 2019. Narayanan et al., ICML 2021.</a:t>
            </a:r>
          </a:p>
        </p:txBody>
      </p:sp>
    </p:spTree>
    <p:extLst>
      <p:ext uri="{BB962C8B-B14F-4D97-AF65-F5344CB8AC3E}">
        <p14:creationId xmlns:p14="http://schemas.microsoft.com/office/powerpoint/2010/main" val="1077799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638550" y="45053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48F"/>
            </a:solidFill>
            <a:prstDash val="dash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0244EE-C7ED-44B8-BBF7-33193C2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APPROACH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C5D69-5FA9-497A-A28B-368AF2E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Scheduling forward and backward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3990B-FD4C-4970-ADBB-6792A0BB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1FDF9-4677-40DF-8685-FE26B69A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06/14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1D255-F629-49C0-80E6-6125B32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1F1B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76D9-C301-4631-993B-C7A5131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620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Illustrative dependency-valid interleaving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2CBB8-189F-4F7E-A070-2A774FB0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BF276-C11C-4D76-871E-4EEDA19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DD855-BABC-49C3-97EE-E1B1EA6E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3140C-826D-4660-898A-FFA52752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00290-4E8C-43B6-A439-6E895AB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CAA42-C5EF-46D6-8938-47B9D9AB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DC928-2E44-4A21-B7D0-899F8DD7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97CB0-6AAD-420B-9331-6BFF3547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048FA-EF9B-4A43-8221-8081EA2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668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B6128-42EE-4E59-8143-AD610301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417EF-ECC1-4313-B348-4F2EFB2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ED8F4-27EA-4F32-91BA-A236F9D4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6838F-F5D6-4483-8E14-DE70D947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D7C65-CE3C-4556-99CA-F910BA24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3A289-1A92-4C2D-AD3B-37F63BA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142E8-8026-4199-888C-683381A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73ABC-954C-4AB0-B95C-EE7BC93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9F7D7-3996-453B-88CE-C2EBCF7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14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2E74A-932C-44CE-91BF-58C4985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Stage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55C84-42B3-441F-94D3-4C3194A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344D4-7116-48B3-A927-DB974E71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B69A5-923A-465F-ACF3-3E215814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3BEE0-674E-42A5-9A3D-B362EF0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4BC5D6-D569-4B9A-A78D-79F9B9CF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37210-47B0-4340-9E2E-2A6B641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073F0-59D6-4859-AEA4-56D707D1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63942B-0ABA-4F69-9612-6A6F7B7E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6222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43A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A6202-2A10-4445-BC24-CA1F37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47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Pipeline bubble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15D270-9EC8-420E-9F31-CA5C2AB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907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rPr>
              <a:t>idle stage-slots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rPr>
              <a:t>──────────────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515A50"/>
                </a:solidFill>
                <a:latin typeface="Cambria Math"/>
                <a:ea typeface="Cambria Math"/>
                <a:cs typeface="Cambria Math"/>
              </a:rPr>
              <a:t>total stage-slots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F9973-99C9-4F08-B7EB-831F2FD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2B3032-8DCE-41B4-8B66-62A9F0F1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Split the backward 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F7404C-EB54-4973-8E25-0681A1A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433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0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Dense affine layer example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9B46BF-7A5A-4FD4-9CA8-541422E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B task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Input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∂L / ∂hₗ₋₁ = Wₗᵀδₗ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Dependency critical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26BB9-A108-4BA3-AAD0-FFEDF082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433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W task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Weight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∂L / ∂Wₗ = δₗhₗ₋₁ᵀ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Can run later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A8832D-D1D2-4A30-8D67-AB0339D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Scheduler priorities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EE8B91-BECB-427A-93E9-39A8DBCB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1  Forward and input-gradient tasks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A7C7FD-F79E-4DBE-8440-C14137D5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386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2  Parameter-gradient tasks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CBBC0F-7645-4517-A717-3C890F5A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33950"/>
            <a:ext cx="371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1143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3  Optimizer updates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BDB090-8A93-41A2-87D6-79A0FBB6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48300"/>
            <a:ext cx="10801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The operating systems question is task priority, readiness, and resource occupancy.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8F42AB-4C98-4797-9E2A-1C827BB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1F1B: PipeDream, SOSP 2019. B/W split: Qi et al., ICLR 2024.</a:t>
            </a:r>
          </a:p>
        </p:txBody>
      </p:sp>
    </p:spTree>
    <p:extLst>
      <p:ext uri="{BB962C8B-B14F-4D97-AF65-F5344CB8AC3E}">
        <p14:creationId xmlns:p14="http://schemas.microsoft.com/office/powerpoint/2010/main" val="1494111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876800" y="2000250"/>
            <a:ext cx="23145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91350" y="3028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24400" y="3028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57450" y="3028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1762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67150" y="1762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28800" y="1762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F7180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DF55FD-970A-4B1F-B4B2-A1B00053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APPROACH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C9972-7F23-4AAD-B31E-5BBE7F3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CPU pipeline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8A210-A7D8-45AF-BA24-C7E39870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E7FA-B9ED-4D93-A345-26583EAD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07/14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82C20-0500-4D14-88E6-84B86AF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ECCF0-EC4B-4276-A674-B99E4E8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1695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Mini-batch 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B306B-11BF-440E-9DC4-1E4B781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2400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991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Micro-Batch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DACF7-B7CA-4250-9C64-78E6A9F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695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Task scheduler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8C992-2319-426A-A799-4B58349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24100"/>
            <a:ext cx="8991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59EDC-1DCA-4FAE-A09C-BFA17943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defRPr>
            </a:pPr>
            <a:r>
              <a:rPr sz="825" b="1" i="0">
                <a:solidFill>
                  <a:srgbClr val="4F7180"/>
                </a:solidFill>
                <a:latin typeface="Bahnschrift"/>
                <a:ea typeface="Bahnschrift"/>
                <a:cs typeface="Bahnschrift"/>
              </a:rPr>
              <a:t>Stage-worker 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AF048-E301-409D-93BC-BDDE73B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Stage worker #0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owned layers and weights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activation buffers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0C89D-00FB-4FE3-A07B-318446A4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Stage worker #1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owned layers and weights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activation buffers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423AC-15FF-47EE-BA42-EA4A2833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Stage worker #2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owned layers and weights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activation buffers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E6069-9A04-4E9E-985F-19EC56D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962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Stage worker #3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owned layers and weights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activation buffers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50318-6AF5-4DA2-80FD-E5053B9B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Dense matrix sizes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E4EEC-E78C-40E5-93F4-C5794BF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784 × 1024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AD55A-3FC6-45BA-9CA6-2DBE3D5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53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0">
            <a:solidFill>
              <a:srgbClr val="4F71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43366-5B22-44AD-8DE2-D8AE641D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0.803M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092A2-3B6C-4182-AC61-E4B14CC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767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1024 × 2048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EF0B0-0CA9-4F20-9E69-058A19EC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1398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0">
            <a:solidFill>
              <a:srgbClr val="4F71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5E50C-9F14-475F-8AC1-9AB35CE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48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2.097M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8FCB8-A334-4879-8FA5-9341CF5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2048 × 2048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2430A0-8554-4573-94F2-2D26B768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279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0">
            <a:solidFill>
              <a:srgbClr val="4F71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94B46-72D7-45F5-94A3-C3FE6E7C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72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4.194M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6B04F-04A1-40FC-95E4-A7F8C4F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2048 × 512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DBAF4-D6E6-4987-AB16-470DE6C0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69942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180"/>
          </a:solidFill>
          <a:ln xmlns:a="http://schemas.openxmlformats.org/drawingml/2006/main" w="0">
            <a:solidFill>
              <a:srgbClr val="4F71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1DA12F-3375-4E68-A4F3-895913C7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95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1.049M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2C1BC-B0C9-4B2A-A4D0-C0E4B0C4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0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Matrix elements, not measured runtime. Profile on the target CPU.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1851A-1AAA-440B-8EA3-D41850E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433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Proposed profile-guided scheduler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88FAE-10EF-4A0A-981B-4B3C20BD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33875"/>
            <a:ext cx="552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Measure each stage on the target CPU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Partition by observed time, not layer count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Tune micro-batches, priorities, and queue limits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Track bubbles, backpressure, locality, and NUMA effects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78413E-2430-4932-B413-DD3AB101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388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Can scheduling gains beat a simpler synchronous baseline?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AD48F2-479F-4AD6-9B23-EE8ECBFE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Pipeline references include GPipe 2019, PipeDream 2019, PipeDream-2BW 2021, Ajanthan et al. 2025, and Ilin and Richtárik 2026 preprint.</a:t>
            </a:r>
          </a:p>
        </p:txBody>
      </p:sp>
    </p:spTree>
    <p:extLst>
      <p:ext uri="{BB962C8B-B14F-4D97-AF65-F5344CB8AC3E}">
        <p14:creationId xmlns:p14="http://schemas.microsoft.com/office/powerpoint/2010/main" val="645850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447800" y="2371725"/>
            <a:ext cx="76200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10500" y="2028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05400" y="2028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2028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D0797-43D9-45FE-8209-02645B9C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rPr>
              <a:t>APPROACH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7C972-B24A-4776-B902-5A3F79B9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Synthetic gradients: predict instead of wait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F847C-08F5-4043-9418-697302F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9CF5C-A14E-42B1-9D22-3655B2CE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08/14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0BFC7-30C1-4828-ACB2-F3E478F6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E5FF8-512C-4AD6-B49B-F92541A7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85925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0F824-9299-40A5-A483-D995032B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5EC6A-F881-412E-94B5-6AD436F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85925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6D67F-D7A9-4529-AAB8-4438BBA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True δA arrives after downstream backpropagation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3FFCD-D670-4EFB-8BC9-BBEF1030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Gradient predictor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Gθ(hA) ≈ ∂L / ∂hA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δ̂A = Gθ(hA)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0086E-30C4-4C7F-9960-84328437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The predictor makes a local update available immediately.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BC475-6754-420A-AFCA-14B371D6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0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Train it when the true gradient arrives: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85FF4-F9B9-483A-A312-FD03E8C2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6C7D4D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6C7D4D"/>
                </a:solidFill>
                <a:latin typeface="Cambria Math"/>
                <a:ea typeface="Cambria Math"/>
                <a:cs typeface="Cambria Math"/>
              </a:rPr>
              <a:t>LSG = ½ ‖Gθ(h) - δ‖²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24A0F-7852-4D7F-932C-4F19FFAD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Delayed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real, but 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5A9D8-7F56-4E21-A08A-DB561A38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Synthetic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estimated, available now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B3CBD-41B6-40DC-92B5-15635A9B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10934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 module can update without waiting for downstream backpropagation.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5303D-F0A0-4809-8A1A-90ACED1F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Jaderberg et al., ICML 2017. Czarnecki et al., ICML 2017.</a:t>
            </a:r>
          </a:p>
        </p:txBody>
      </p:sp>
    </p:spTree>
    <p:extLst>
      <p:ext uri="{BB962C8B-B14F-4D97-AF65-F5344CB8AC3E}">
        <p14:creationId xmlns:p14="http://schemas.microsoft.com/office/powerpoint/2010/main" val="7773160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81750" y="2276475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801100" y="26479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14650" y="2276475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334000" y="26479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866900" y="26479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36F19-6B4B-4434-BB76-055F0FF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rPr>
              <a:t>APPROACH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2C2D-8777-47AF-B1BF-9D4028D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Local losses: replace the global backward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CA4CF-D190-48A9-961E-5B43F7F0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A90D-9EB6-4C23-B657-6A71598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09/14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DB512-3A9C-4E20-8F23-590030E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#0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95FC8-2358-46E2-95A2-41DEAB22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Local classifier #0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Loss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7577-FA8D-4930-B307-1681F56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#1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D6470-53E9-4923-A7B7-4B3E29C9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Local classifier #1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Loss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BDC2F-041C-4326-A9DF-A88D2BF8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05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#2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DE78B-8ED6-480E-8B92-4C99F7F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Final classifier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Loss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E33A-9162-4553-B3FC-72768EE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Each module optimizes its own supervised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2A4E3-BC4D-4C4C-A0F6-B607A6D7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6C7D4D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6C7D4D"/>
                </a:solidFill>
                <a:latin typeface="Cambria Math"/>
                <a:ea typeface="Cambria Math"/>
                <a:cs typeface="Cambria Math"/>
              </a:rPr>
              <a:t>ŷᵢ = Cᵢ(hᵢ)     Lᵢ = CE(ŷᵢ, y)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FAE72-EE41-4616-AFEE-0817B89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24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Two related methods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D4DEB-B8E2-4DFB-860D-D9E087CD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434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Synthetic gradient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approximates the missing global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4DB45-E827-409A-A685-FC281B8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434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Local learning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replaces the global signal with a local objective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C2014-2948-4DFB-B1A0-41BDC45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8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Local heads break update locking, but their gradients may not align with the final task.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2AD44-FB06-48DC-A0F8-2232CD92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Belilovsky et al., ICML 2020. Yang et al., ICML 2024.</a:t>
            </a:r>
          </a:p>
        </p:txBody>
      </p:sp>
    </p:spTree>
    <p:extLst>
      <p:ext uri="{BB962C8B-B14F-4D97-AF65-F5344CB8AC3E}">
        <p14:creationId xmlns:p14="http://schemas.microsoft.com/office/powerpoint/2010/main" val="31724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58250" y="46767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58250" y="38195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C211C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96500" y="20288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53350" y="2028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29200" y="2028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86050" y="2028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C7D4D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E23BE-CBDD-4B90-BCAE-4B59BFE4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C7D4D"/>
                </a:solidFill>
                <a:latin typeface="Bahnschrift"/>
                <a:ea typeface="Bahnschrift"/>
                <a:cs typeface="Bahnschrift"/>
              </a:rPr>
              <a:t>APPROACH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24246-9E35-45CD-A9AD-FA769289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Replay buffers and independent worker threads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67DCF-BD31-41E5-B25F-8B7864F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C3457-FC95-454D-9654-F33D1E27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10/14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52CED-C4D2-4438-951B-7F82A83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972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module weights and optimizer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940A-96AA-45BF-8F29-14D20FAF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Bounded replay buffer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E68B-C3F3-4CE9-BB5A-D8FDE414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972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local head or SG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40B14-F6CF-4CB1-8788-E366842D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Bounded replay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C8480-8610-41E6-B5C3-57DF1BF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609725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BA680-F8B9-477D-94DC-84A5DF7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When the consumer falls behind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1DE17-7E8C-40D4-B059-9AF16553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Block producer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preserve every item, lose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E920F-951A-4FB2-97C9-0752340C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6710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Overwrite oldest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bound age and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2BDA5-08B1-48B6-9397-3C22A3D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Replay sample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train from a broader age 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87DE6-DB6F-4A13-9E54-AD67C43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AAA48F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Throttle producer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reduce imbalance before overflow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2B59A-37E4-46EF-A1FF-4CC2A909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Proposed hybrid true or synthetic runtime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0B74-C683-4136-A66A-BBD5272C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True gradient 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F2DA0-A0F9-40B4-9F2D-0A2B9553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Waiting cost is 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967D0-0792-406A-A7F4-65096B49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Use true signal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7B3F5-DDEF-47F9-9533-BFF26C06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Use local or predicted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8F7887-91A5-4BDC-B2E1-EAE1E0D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530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Measure occupancy, activation age, idle time, throughput, gradient similarity, and accuracy.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9A8D3-FA9A-47D3-970C-9B653E52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Replay-buffer DGL: Belilovsky et al., ICML 2020 and arXiv 2021 extension.</a:t>
            </a:r>
          </a:p>
        </p:txBody>
      </p:sp>
    </p:spTree>
    <p:extLst>
      <p:ext uri="{BB962C8B-B14F-4D97-AF65-F5344CB8AC3E}">
        <p14:creationId xmlns:p14="http://schemas.microsoft.com/office/powerpoint/2010/main" val="1775142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653AD-9D4C-4D3F-B735-94F8F93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APPROACH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584BE-BE42-42A3-A0E5-7B613416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Local SGD: independent work with occasional averaging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4BC1-C8BF-4C9B-9078-4556582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3C2D-180F-4EE6-A3D5-BCAAD11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11/14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A9340-5C37-439C-BC6E-AAA55228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Each thread owns a complete MLP replica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39B95-E9F4-4E38-B225-1406624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236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Full MLP replica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Dataset shard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ED098-B46C-4CC0-83F1-544D77A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236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Full MLP replica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Dataset shard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8B37D-D8A7-4372-B76A-6D8BC6A3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236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Full MLP replica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Dataset shard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BE9B9-8FD6-4ED1-84B5-ADCDBAC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362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 #3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Full MLP replica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Dataset shard 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2A9F-BA79-4958-ABE7-44A43CD8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Local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3D615-5386-4889-B6F3-5DA6241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Wᵢᵗ⁺¹ = Wᵢᵗ - ηgᵢᵗ   for H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2D38E-D5C0-4FA1-A576-2A33091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81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Periodic average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67739-480D-4575-8F3D-324A0E9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57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W̄ = (1/P) ΣᵢWᵢ     then Wᵢ ← W̄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EF2BD-6061-4D72-A04A-3CBF8165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B23DC-6870-4182-B375-D51C023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F27EB-7289-4B38-9634-A4DDE1B0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88E7C-C8EE-4B05-A2BB-B0F0180E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99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E4097-7186-4341-B674-844E6B9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51684-1E95-4471-A102-27AE295C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078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623BD-EEB4-4FD3-BDDF-1A0DB63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148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BARRIER + PARALLEL REDUCTION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9E98F-6F29-4CF4-8971-C28EE7C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00675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During H local steps, workers do not synchronize model state. The cost returns at the averaging barrier.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7223B-C0CA-4B02-9C69-41A01C58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Stich, ICLR 2019. Lin et al., ICLR 2020. Wang et al., ICLR 2020.</a:t>
            </a:r>
          </a:p>
        </p:txBody>
      </p:sp>
    </p:spTree>
    <p:extLst>
      <p:ext uri="{BB962C8B-B14F-4D97-AF65-F5344CB8AC3E}">
        <p14:creationId xmlns:p14="http://schemas.microsoft.com/office/powerpoint/2010/main" val="2055848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2B2EA2-948E-465B-A9C0-72672B81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APPROACH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CFE38-8010-4F66-8536-E7E2CDAD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Private state during local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051D7-0299-4D5F-9481-462B3FCA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63B1-E089-46EA-8FFB-A9DC09A8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12/14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1274A-D6CE-4E65-800E-CD8CD13C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LOCAL 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30D35-33F0-4290-A3D5-168DF04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388B-005C-4375-A8EF-CFD7CA6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D607B-EF83-4D95-9A40-B9FF93C5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8D121-0E1A-44F7-9C42-6696394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A5095-9785-4A45-B927-AEF01985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0D7A7-24D2-42EA-8739-F848622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C4D53-6D78-47D3-9E3C-71F41ABE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C5150-5436-4CAE-8DE7-C1B3500A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760C0-424B-4F3D-9C15-700ECB45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64A4E-250B-4F5D-8DC5-35406A06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B3EA3-62B1-4DF7-A8A1-C44E8A70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985D6-55E6-4E0F-BFDD-51BD5A2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3B366-31AF-4DA8-BBFB-53384B1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9F7B-881D-4939-AC5F-3862C0E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58C50-039E-4A76-B84A-5EAC0865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95019-48C2-44A7-85B8-586C309B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A18C6-EE06-408F-AF06-8252914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F4AAD-859D-4E28-A3A8-AC176F32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FB7C8-63FC-42CD-9270-635EB3A0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BC45C-4A18-4219-BC75-65A1142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74484-9D7C-4718-A670-900D964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25EE7-A24A-4960-A1E9-81FC91E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E4E90-562E-4778-8D83-AD43B0C0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C844A7-15CD-42D4-A51E-A7A4DD4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CB0A7-1E97-412F-A5DE-B42727B6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12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T3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9E84D-0BF5-44E8-832B-82942C8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DDD38-BE14-47E6-A4A7-FB802CD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379ED-A525-48EA-ACCA-4BA93AF8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4EAA6-8719-4707-BA43-EAF11194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73C371-67D5-48F4-9CCA-3CCF3A3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92689-F056-46DC-8A00-FA87A4D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D5DE21-C0D3-4714-93AD-7F1F97D4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19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4E632A-C224-464E-9B7F-7FEACDC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86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Private per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weights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optimizer state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gradients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activations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mini-batches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E182C-9A2F-45E9-AEF7-EFA1078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85925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Shared only at sync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barrier state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reduction buffers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new averaged weights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50094-82C8-4357-B6AA-B6B6689D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69B7F-2890-474A-9975-85903A2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PARALLEL MODEL AVERAGING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D2B5DA-84C5-4F34-B5C0-4A640A1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0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Parameter vector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7204AB-00AB-4BD4-B412-C9CF8C12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Thread #0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C09834-0350-45CB-85F8-10D183A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Thread #1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0EF7DB-6D59-4A7E-910A-1464E2D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8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Thread #2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BCB699-1B6C-4997-8910-3D43326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A3E"/>
          </a:solidFill>
          <a:ln xmlns:a="http://schemas.openxmlformats.org/drawingml/2006/main" w="9525">
            <a:solidFill>
              <a:srgbClr val="ECE7D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Thread #3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9CA8AE-F5EC-4350-B646-6F115239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14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Each thread averages a disjoint parameter range, then all threads cross a second barrier.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B7AD2-7C33-4721-B209-2E83EDA0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Memory cost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1B0DFE-B929-471D-81B7-4041630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rPr>
              <a:t>≈ P × (weights + optimizer + gradients + activations) + shared buffers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0DCE88-559E-4B17-A0C0-82710A6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Systems risks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FC0BD7-7804-4C1D-8517-F5E2CAB1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62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memory bandwidth, NUMA placement, false sharing in reduction metadata, cache pollution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A8F3C1-FAC7-45F2-99EA-86CE26F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Implementation topics: sense-reversing barrier, flat versus tree reduction, first-touch NUMA allocation, cache-line padding.</a:t>
            </a:r>
          </a:p>
        </p:txBody>
      </p:sp>
    </p:spTree>
    <p:extLst>
      <p:ext uri="{BB962C8B-B14F-4D97-AF65-F5344CB8AC3E}">
        <p14:creationId xmlns:p14="http://schemas.microsoft.com/office/powerpoint/2010/main" val="77624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24175" y="56673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07828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924175" y="48482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07828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E9C10-F717-482D-A3D5-ED20726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07828"/>
                </a:solidFill>
                <a:latin typeface="Bahnschrift"/>
                <a:ea typeface="Bahnschrift"/>
                <a:cs typeface="Bahnschrift"/>
              </a:rPr>
              <a:t>APPROACH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C7B57-B860-4EF3-8859-F69B710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Synchronization frequency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65D64-6927-4842-BEA1-A8BC54B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0387-53B9-431C-A3E8-1035123D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13/14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1F4C-3D3E-44E6-8E1A-EB2EA3D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C211C"/>
                </a:solidFill>
                <a:latin typeface="Cambria Math"/>
                <a:ea typeface="Cambria Math"/>
                <a:cs typeface="Cambria Math"/>
              </a:rPr>
              <a:t>H = local updates between averaging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33F48-3B34-487F-9423-53A06745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Small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typically keeps models closer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reduces drift exposure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more barriers and reduction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EE61E-45A1-4152-81A0-0627ACE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Large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workers run independently longer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less synchronization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can increase drift and convergence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53F8D-29E5-4EE6-B9C3-D40BE38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rPr>
              <a:t>D = (1/P) Σᵢ ‖Wᵢ - W̄‖²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CC35C-B519-4FEB-A574-0759E643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model divergence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FB745-1065-4BEC-97F5-C76E8D1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3F247-6195-4926-B258-AEB4C38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Proposed adaptive Local SGD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A3C3A-2156-4C59-B76E-9272008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Divergence small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37B02-2376-4FF9-8896-7F806D3E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Increase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03DB7-DCE5-44C6-820B-A96BF238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C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Divergence large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DB089-5D4F-4B64-8B9C-4D982056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91150"/>
            <a:ext cx="2428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Decrease 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38990-3143-434F-A450-DF800AF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System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4E600-2470-4087-9B6E-2F4B7AD1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48175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barrier wait time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model averaging time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worker imbalance</a:t>
            </a:r>
          </a:p>
          <a:p xmlns:a="http://schemas.openxmlformats.org/drawingml/2006/main">
            <a:pPr marL="228600" indent="-114300" algn="l">
              <a:lnSpc>
                <a:spcPct val="106000"/>
              </a:lnSpc>
              <a:spcAft>
                <a:spcPts val="500"/>
              </a:spcAft>
              <a:buNone/>
              <a:def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35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memory bandwidth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A8512-2412-4C99-A1E1-97C2ED4A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67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B07828"/>
                </a:solidFill>
                <a:latin typeface="Cambria Math"/>
                <a:ea typeface="Cambria Math"/>
                <a:cs typeface="Cambria Math"/>
              </a:rPr>
              <a:t>Test H = 1, 2, 4, 8, 16, 32, 64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90BC9-A07A-4848-B38E-CCB12027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Modern theory: Luo et al., AISTATS 2025. The adaptation policy is a proposed project direction.</a:t>
            </a:r>
          </a:p>
        </p:txBody>
      </p:sp>
    </p:spTree>
    <p:extLst>
      <p:ext uri="{BB962C8B-B14F-4D97-AF65-F5344CB8AC3E}">
        <p14:creationId xmlns:p14="http://schemas.microsoft.com/office/powerpoint/2010/main" val="147422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C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611EE-E6AA-4811-A760-ADFEC4CE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ARCHITECTURAL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93116-5A1B-46DC-8BEF-A19BFF7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C211C"/>
                </a:solidFill>
                <a:latin typeface="Georgia"/>
                <a:ea typeface="Georgia"/>
                <a:cs typeface="Georgia"/>
              </a:rPr>
              <a:t>Four ways to reduce synchronization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C2385-8DDD-4F30-BC70-7F629833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06C0-4B77-46D8-9378-57F6C656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722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7D776A"/>
                </a:solidFill>
                <a:latin typeface="Bahnschrift"/>
                <a:ea typeface="Bahnschrift"/>
                <a:cs typeface="Bahnschrift"/>
              </a:rPr>
              <a:t>FIELD ATLAS  14/14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1381125"/>
          <a:ext xmlns:a="http://schemas.openxmlformats.org/drawingml/2006/main" cx="112014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47900"/>
                <a:gridCol w="2247900"/>
                <a:gridCol w="2362200"/>
                <a:gridCol w="2343150"/>
              </a:tblGrid>
              <a:tr h="4738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Question</a:t>
                      </a:r>
                    </a:p>
                  </a:txBody>
                  <a:tcPr marL="57150" marR="57150" marT="47625" marB="47625" anchor="ctr">
                    <a:solidFill>
                      <a:srgbClr val="1C21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Delayed gradients</a:t>
                      </a:r>
                    </a:p>
                  </a:txBody>
                  <a:tcPr marL="57150" marR="57150" marT="47625" marB="47625" anchor="ctr">
                    <a:solidFill>
                      <a:srgbClr val="A35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Pipeline</a:t>
                      </a:r>
                    </a:p>
                  </a:txBody>
                  <a:tcPr marL="57150" marR="57150" marT="47625" marB="47625" anchor="ctr">
                    <a:solidFill>
                      <a:srgbClr val="4F71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Synthetic or local</a:t>
                      </a:r>
                    </a:p>
                  </a:txBody>
                  <a:tcPr marL="57150" marR="57150" marT="47625" marB="47625" anchor="ctr">
                    <a:solidFill>
                      <a:srgbClr val="6C7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Local SGD</a:t>
                      </a:r>
                    </a:p>
                  </a:txBody>
                  <a:tcPr marL="57150" marR="57150" marT="47625" marB="47625" anchor="ctr">
                    <a:solidFill>
                      <a:srgbClr val="B0782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Work instead of waiting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Use an older real gradient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Run another micro-batch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Use a predicted or local signal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Train a private replica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Parallelism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Model parallel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Model and pipeline parallel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Decoupled model parallel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Data parallel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Main price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Staleness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Bubbles, scheduler, memory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Approximation or local objective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Drift and replicated memory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Synchronization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Versioned queues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Queues and dependency scheduler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Replay buffers and local updates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Periodic barrier and reduction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OS focus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Asynchrony and versioning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Scheduling and balance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Producer-consumer decoupling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Barriers and reduction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Estimated complexity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Moderate: versions and age policy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Substantial: schedule and buffers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Substantial: extra learner and metrics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Moderate: replicas and reduction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  <a:tr h="47386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11C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Research variable</a:t>
                      </a:r>
                    </a:p>
                  </a:txBody>
                  <a:tcPr marL="57150" marR="57150" marT="38100" marB="38100" anchor="ctr">
                    <a:solidFill>
                      <a:srgbClr val="DED7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Gradient age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Bubble fraction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Signal quality and replay age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515A50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 and model divergence</a:t>
                      </a:r>
                    </a:p>
                  </a:txBody>
                  <a:tcPr marL="57150" marR="57150" marT="38100" marB="38100" anchor="ctr"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D1626-35E3-4D5D-8CE7-083ABF4D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1C211C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STANDARD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Wait for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current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2F606-1EDE-42B7-87E5-BB0BC5D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3911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A3543A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DELAYED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Use an older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real gradient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7DF37-3BB6-4DC9-94FF-2644A9AE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4F718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PIPELINE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Do other work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while waiting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9015D-CF79-4C6A-B9FF-B486BEF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3911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6C7D4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SYNTHETIC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Approximate or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replace the 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DCB49-CAA5-44E8-B4BF-2C6DF145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911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B07828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LOCAL SGD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Stop sharing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defRPr>
            </a:pPr>
            <a:r>
              <a:rPr sz="975" b="0">
                <a:solidFill>
                  <a:srgbClr val="1C211C"/>
                </a:solidFill>
                <a:latin typeface="Bahnschrift"/>
                <a:ea typeface="Bahnschrift"/>
                <a:cs typeface="Bahnschrift"/>
              </a:rPr>
              <a:t>temporarily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5286B-F7C3-4185-B341-95DC92E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515A50"/>
                </a:solidFill>
                <a:latin typeface="Bahnschrift"/>
                <a:ea typeface="Bahnschrift"/>
                <a:cs typeface="Bahnschrift"/>
              </a:rPr>
              <a:t>Next: select one runtime, design it in detail, implement a prototype, and benchmark against sequential and synchronous baselines.</a:t>
            </a:r>
          </a:p>
        </p:txBody>
      </p:sp>
    </p:spTree>
    <p:extLst>
      <p:ext uri="{BB962C8B-B14F-4D97-AF65-F5344CB8AC3E}">
        <p14:creationId xmlns:p14="http://schemas.microsoft.com/office/powerpoint/2010/main" val="126284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2026-09-22T12:33:16.8710000Z</dcterms:created>
  <dcterms:modified xsi:type="dcterms:W3CDTF">2026-09-22T12:33:16.8710000Z</dcterms:modified>
</coreProperties>
</file>